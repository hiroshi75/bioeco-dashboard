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151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88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BioEco Agent Lab — H-PHENO-1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7E8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フェノロジー遅延は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E7E8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個体数崩壊の</a:t>
            </a:r>
            <a:endParaRPr lang="en-US" sz="3600" dirty="0"/>
          </a:p>
          <a:p>
            <a:pPr indent="0" marL="0">
              <a:buNone/>
            </a:pPr>
            <a:r>
              <a:rPr lang="en-US" sz="3800" b="1" dirty="0">
                <a:solidFill>
                  <a:srgbClr val="B850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「隠れたシグナル」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Phenological delays as ghost signals of population decline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67年間のJMAモニタリングデータによる実証  |  2026-03-15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4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Paper — Ecology Letters / Current Biology 候補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なぜフェノロジー遅延は見逃されてきたか？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828800" cy="3657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840480" cy="457200"/>
          </a:xfrm>
          <a:prstGeom prst="rect">
            <a:avLst/>
          </a:prstGeom>
          <a:solidFill>
            <a:srgbClr val="7A6B6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従来の解釈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「初鳴き・初見が遅れた」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7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温暖化で季節がずれた？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7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観測バイアス？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7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特に問題視されず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フェノロジー変化は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「気候応答」として処理されてきた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0" y="2560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188720"/>
            <a:ext cx="3840480" cy="4572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188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H-PHENO-1 の新解釈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20640" y="182880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「初鳴き・初見が遅れた」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個体数が減っている！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個体数が少ない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最初の1匹を見つけるのに時間がかかる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初認日(FAD)が遅延する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"Ticking time-bomb" (Simmonds 2020)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理論的背景: Miller-Rushing (2008), Moussus (2010) が鳥類で指摘。しかし大規模な実証は未達成だった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発見の連鎖 — 6ステップの推論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828800" cy="3657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1508760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234440"/>
            <a:ext cx="411480" cy="411480"/>
          </a:xfrm>
          <a:prstGeom prst="ellipse">
            <a:avLst/>
          </a:prstGeom>
          <a:solidFill>
            <a:srgbClr val="C4453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280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ホタル有意減少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81%サイト減少, p=0.002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63240" y="15544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91840" y="109728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097280"/>
            <a:ext cx="54864" cy="1508760"/>
          </a:xfrm>
          <a:prstGeom prst="rect">
            <a:avLst/>
          </a:prstGeom>
          <a:solidFill>
            <a:srgbClr val="7A6B60"/>
          </a:solidFill>
          <a:ln/>
        </p:spPr>
      </p:sp>
      <p:sp>
        <p:nvSpPr>
          <p:cNvPr id="13" name="Shape 11"/>
          <p:cNvSpPr/>
          <p:nvPr/>
        </p:nvSpPr>
        <p:spPr>
          <a:xfrm>
            <a:off x="3474720" y="1234440"/>
            <a:ext cx="411480" cy="411480"/>
          </a:xfrm>
          <a:prstGeom prst="ellipse">
            <a:avLst/>
          </a:prstGeom>
          <a:solidFill>
            <a:srgbClr val="7A6B60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023360" y="1280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耕作放棄では説明不能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1828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相関 r=0.05, p=0.80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97880" y="15544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126480" y="109728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097280"/>
            <a:ext cx="54864" cy="15087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0" y="1234440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58000" y="1280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アマガエル初鳴遅延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1828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+5.3日/10年, p=0.0001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92608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2926080"/>
            <a:ext cx="54864" cy="1508760"/>
          </a:xfrm>
          <a:prstGeom prst="rect">
            <a:avLst/>
          </a:prstGeom>
          <a:solidFill>
            <a:srgbClr val="D4883A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3063240"/>
            <a:ext cx="411480" cy="411480"/>
          </a:xfrm>
          <a:prstGeom prst="ellipse">
            <a:avLst/>
          </a:prstGeom>
          <a:solidFill>
            <a:srgbClr val="D4883A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88720" y="3108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水田依存種の一貫パターン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3657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2分類群×2種ペアで確認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063240" y="3383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3291840" y="292608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91840" y="2926080"/>
            <a:ext cx="54864" cy="1508760"/>
          </a:xfrm>
          <a:prstGeom prst="rect">
            <a:avLst/>
          </a:prstGeom>
          <a:solidFill>
            <a:srgbClr val="3A7D5C"/>
          </a:solidFill>
          <a:ln/>
        </p:spPr>
      </p:sp>
      <p:sp>
        <p:nvSpPr>
          <p:cNvPr id="33" name="Shape 31"/>
          <p:cNvSpPr/>
          <p:nvPr/>
        </p:nvSpPr>
        <p:spPr>
          <a:xfrm>
            <a:off x="3474720" y="3063240"/>
            <a:ext cx="411480" cy="411480"/>
          </a:xfrm>
          <a:prstGeom prst="ellipse">
            <a:avLst/>
          </a:prstGeom>
          <a:solidFill>
            <a:srgbClr val="3A7D5C"/>
          </a:solidFill>
          <a:ln/>
        </p:spPr>
      </p:sp>
      <p:sp>
        <p:nvSpPr>
          <p:cNvPr id="34" name="Text 32"/>
          <p:cNvSpPr/>
          <p:nvPr/>
        </p:nvSpPr>
        <p:spPr>
          <a:xfrm>
            <a:off x="347472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023360" y="3108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代替仮説5/6を排除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474720" y="3657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都市化p=0.86, 放棄p=0.80等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897880" y="3383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126480" y="292608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26480" y="2926080"/>
            <a:ext cx="54864" cy="1508760"/>
          </a:xfrm>
          <a:prstGeom prst="rect">
            <a:avLst/>
          </a:prstGeom>
          <a:solidFill>
            <a:srgbClr val="2C6E8A"/>
          </a:solidFill>
          <a:ln/>
        </p:spPr>
      </p:sp>
      <p:sp>
        <p:nvSpPr>
          <p:cNvPr id="40" name="Shape 38"/>
          <p:cNvSpPr/>
          <p:nvPr/>
        </p:nvSpPr>
        <p:spPr>
          <a:xfrm>
            <a:off x="6309360" y="3063240"/>
            <a:ext cx="411480" cy="411480"/>
          </a:xfrm>
          <a:prstGeom prst="ellipse">
            <a:avLst/>
          </a:prstGeom>
          <a:solidFill>
            <a:srgbClr val="2C6E8A"/>
          </a:solidFill>
          <a:ln/>
        </p:spPr>
      </p:sp>
      <p:sp>
        <p:nvSpPr>
          <p:cNvPr id="41" name="Text 39"/>
          <p:cNvSpPr/>
          <p:nvPr/>
        </p:nvSpPr>
        <p:spPr>
          <a:xfrm>
            <a:off x="630936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858000" y="3108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緯度勾配の発見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309360" y="3657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高緯度ほど遅延大 r=0.49, p=0.001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77240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結論: フェノロジー遅延は「気候応答」ではなく「個体数減少の隠れたシグナル」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主要証拠 — 67年間の実証データ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828800" cy="3657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192024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+5.3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日/10年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アマガエル初鳴遅延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p=0.0001, 41地点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109728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097280"/>
            <a:ext cx="1920240" cy="54864"/>
          </a:xfrm>
          <a:prstGeom prst="rect">
            <a:avLst/>
          </a:prstGeom>
          <a:solidFill>
            <a:srgbClr val="D4883A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325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88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+2.0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60604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日/10年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9748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はるぜみ初鳴遅延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97480" y="2651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p=0.040, 41地点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097280"/>
            <a:ext cx="1920240" cy="54864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325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445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-58%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75488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/10年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カエル卵塊数減少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2651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ニホンアカガエル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03720" y="109728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03720" y="1097280"/>
            <a:ext cx="1920240" cy="54864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1325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445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81%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90372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サイト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9516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ホタル減少サイト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95160" y="2651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p=0.002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38328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383280"/>
            <a:ext cx="8229600" cy="54864"/>
          </a:xfrm>
          <a:prstGeom prst="rect">
            <a:avLst/>
          </a:prstGeom>
          <a:solidFill>
            <a:srgbClr val="2C6E8A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一貫したパターン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" y="38404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水田依存種 &gt; 非水田種: </a:t>
            </a:r>
            <a:pPr indent="0" marL="0">
              <a:buNone/>
            </a:pPr>
            <a:r>
              <a:rPr lang="en-US" sz="1200" dirty="0">
                <a:solidFill>
                  <a:srgbClr val="7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ヘイケボタル(-41%) &gt; ゲンジボタル(-23%)、アマガエル(+5.3日) &gt; はるぜみ(+2.0日)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" y="4069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緯度勾配: </a:t>
            </a:r>
            <a:pPr indent="0" marL="0">
              <a:buNone/>
            </a:pPr>
            <a:r>
              <a:rPr lang="en-US" sz="1200" dirty="0">
                <a:solidFill>
                  <a:srgbClr val="7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高緯度ほど遅延が大きい (r=0.49, p=0.001) — 北方ほど水田環境の劣化が進行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" y="4343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決定的証拠: </a:t>
            </a:r>
            <a:pPr indent="0" marL="0">
              <a:buNone/>
            </a:pPr>
            <a:r>
              <a:rPr lang="en-US" sz="1100" dirty="0">
                <a:solidFill>
                  <a:srgbClr val="7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JMA動物10種中、温暖化に応答して前進した種 = 0種（植物は3種前進）→ 個体数減少が相殺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代替仮説の排除 — 6つ全てを棄却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828800" cy="36576"/>
          </a:xfrm>
          <a:prstGeom prst="rect">
            <a:avLst/>
          </a:prstGeom>
          <a:solidFill>
            <a:srgbClr val="B85042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代替仮説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検証方法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p値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結果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</a:rPr>
                        <a:t>水田管理時期の変化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6B60"/>
                          </a:solidFill>
                        </a:rPr>
                        <a:t>はるぜみ(非水田種)も遅延を確認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</a:rPr>
                        <a:t>p=0.04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A7D5C"/>
                          </a:solidFill>
                        </a:rPr>
                        <a:t>棄却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</a:rPr>
                        <a:t>都市化バイアス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6B60"/>
                          </a:solidFill>
                        </a:rPr>
                        <a:t>都市/地方で差なし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</a:rPr>
                        <a:t>p=0.86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A7D5C"/>
                          </a:solidFill>
                        </a:rPr>
                        <a:t>棄却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</a:rPr>
                        <a:t>降水・積雪パターン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6B60"/>
                          </a:solidFill>
                        </a:rPr>
                        <a:t>日本海/太平洋側で差なし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</a:rPr>
                        <a:t>p=0.62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A7D5C"/>
                          </a:solidFill>
                        </a:rPr>
                        <a:t>棄却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</a:rPr>
                        <a:t>耕作放棄の影響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6B60"/>
                          </a:solidFill>
                        </a:rPr>
                        <a:t>放棄率との相関なし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</a:rPr>
                        <a:t>p=0.80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A7D5C"/>
                          </a:solidFill>
                        </a:rPr>
                        <a:t>棄却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</a:rPr>
                        <a:t>温暖化の直接効果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6B60"/>
                          </a:solidFill>
                        </a:rPr>
                        <a:t>遅延の方向が温暖化と逆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A7D5C"/>
                          </a:solidFill>
                        </a:rPr>
                        <a:t>棄却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</a:rPr>
                        <a:t>降水量変化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6B60"/>
                          </a:solidFill>
                        </a:rPr>
                        <a:t>降水パターンとの相関なし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A7D5C"/>
                          </a:solidFill>
                        </a:rPr>
                        <a:t>棄却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2A1F1A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4297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「個体数減少がフェノロジー遅延を駆動している」が最も節約的な説明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E8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この発見の意義 — So What?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なぜ保全生物学にとって重要か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960120"/>
          </a:xfrm>
          <a:prstGeom prst="rect">
            <a:avLst/>
          </a:prstGeom>
          <a:solidFill>
            <a:srgbClr val="2A1F1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9601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1463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「見えない減少」の検出ツール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18288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個体数カウントが行われていない地域・分類群でも、フェノロジーデータから個体群減少を推定できる可能性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8229600" cy="960120"/>
          </a:xfrm>
          <a:prstGeom prst="rect">
            <a:avLst/>
          </a:prstGeom>
          <a:solidFill>
            <a:srgbClr val="2A1F1A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514600"/>
            <a:ext cx="54864" cy="9601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69748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2606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67年のレガシーデータの再活用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29718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JMAが2021年に廃止した生物季節観測（1953-2020）の膨大なデータに新しい解釈と価値を付与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solidFill>
            <a:srgbClr val="2A1F1A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657600"/>
            <a:ext cx="54864" cy="9601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84048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71600" y="3749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水田生態系への政策的警告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41148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水田依存種の一貫した減少パターンは、日本の水田環境の広域的劣化を示唆。農業政策への含意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新規性B — 概念は既知(鳥類)だが、両生類+昆虫での67年大規模実証は世界初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投稿準備状況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828800" cy="3657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777240"/>
          </a:xfrm>
          <a:prstGeom prst="rect">
            <a:avLst/>
          </a:prstGeom>
          <a:solidFill>
            <a:srgbClr val="3A7D5C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234440"/>
            <a:ext cx="1005840" cy="256032"/>
          </a:xfrm>
          <a:prstGeom prst="rect">
            <a:avLst/>
          </a:prstGeom>
          <a:solidFill>
            <a:srgbClr val="3A7D5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全PASS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0" y="1188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品質ゲート A/B/C 全通過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0" y="1508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新規性評価・ドラフト品質監査・投稿前最終確認 — バイアス監査6/6クリア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11680"/>
            <a:ext cx="54864" cy="777240"/>
          </a:xfrm>
          <a:prstGeom prst="rect">
            <a:avLst/>
          </a:prstGeom>
          <a:solidFill>
            <a:srgbClr val="3A7D5C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148840"/>
            <a:ext cx="1005840" cy="256032"/>
          </a:xfrm>
          <a:prstGeom prst="rect">
            <a:avLst/>
          </a:prstGeom>
          <a:solidFill>
            <a:srgbClr val="3A7D5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1488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完了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28800" y="2103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ドラフトv3 + Fig 1-5 + 参考文献30本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828800" y="2423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Ecology Letters Article形式（~5,000語）。Supplementary Table S1（355件トレンド詳細）も完成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26080"/>
            <a:ext cx="54864" cy="777240"/>
          </a:xfrm>
          <a:prstGeom prst="rect">
            <a:avLst/>
          </a:prstGeom>
          <a:solidFill>
            <a:srgbClr val="2C6E8A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3063240"/>
            <a:ext cx="1005840" cy="256032"/>
          </a:xfrm>
          <a:prstGeom prst="rect">
            <a:avLst/>
          </a:prstGeom>
          <a:solidFill>
            <a:srgbClr val="2C6E8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063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投稿実務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28800" y="3017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残りタスク: 語数調整・Data Availability・Cover letter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828800" y="3337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contributions記載、EL形式最終フォーマット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840480"/>
            <a:ext cx="54864" cy="777240"/>
          </a:xfrm>
          <a:prstGeom prst="rect">
            <a:avLst/>
          </a:prstGeom>
          <a:solidFill>
            <a:srgbClr val="7A6B60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3977640"/>
            <a:ext cx="1005840" cy="256032"/>
          </a:xfrm>
          <a:prstGeom prst="rect">
            <a:avLst/>
          </a:prstGeom>
          <a:solidFill>
            <a:srgbClr val="7A6B6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9776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将来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28800" y="3931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VIIRS統合 + 他地域拡張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828800" y="4251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光害ドライバー分析はcompanion paper候補。鳥類FADデータでの一般化検証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2A1F1A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5720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投稿先: Ecology Letters (Article)  |  ゲートC PASS: 2026-03-15  |  BioEco 2本目の投稿可能論文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H-PHENO-1: Phenological Delays as Ghost Signals of Population Decline</dc:title>
  <dc:subject>PptxGenJS Presentation</dc:subject>
  <dc:creator>Hana Presenter</dc:creator>
  <cp:lastModifiedBy>Hana Presenter</cp:lastModifiedBy>
  <cp:revision>1</cp:revision>
  <dcterms:created xsi:type="dcterms:W3CDTF">2026-03-15T11:01:13Z</dcterms:created>
  <dcterms:modified xsi:type="dcterms:W3CDTF">2026-03-15T11:01:13Z</dcterms:modified>
</cp:coreProperties>
</file>