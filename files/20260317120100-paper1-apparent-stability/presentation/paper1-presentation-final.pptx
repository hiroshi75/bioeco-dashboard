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9E5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64008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Species richness masks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biotic homogenization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depopulating Japanese satoyama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2651760"/>
            <a:ext cx="2743200" cy="0"/>
          </a:xfrm>
          <a:prstGeom prst="line">
            <a:avLst/>
          </a:prstGeom>
          <a:noFill/>
          <a:ln w="25400">
            <a:solidFill>
              <a:srgbClr val="4A9E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9260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7BC62"/>
                </a:solidFill>
              </a:rPr>
              <a:t>A multi-taxon functional analysis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6B7B6E"/>
                </a:solidFill>
              </a:rPr>
              <a:t>BioEco Agent Lab  |  2026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3840480"/>
            <a:ext cx="2286000" cy="64008"/>
          </a:xfrm>
          <a:prstGeom prst="rect">
            <a:avLst/>
          </a:prstGeom>
          <a:solidFill>
            <a:srgbClr val="4A9E53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977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6E"/>
                </a:solidFill>
              </a:rPr>
              <a:t>5分類群 × 158サイト × 15年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74720" y="3840480"/>
            <a:ext cx="2286000" cy="6400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3977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6E"/>
                </a:solidFill>
              </a:rPr>
              <a:t>~33,000レコード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17920" y="3840480"/>
            <a:ext cx="2286000" cy="64008"/>
          </a:xfrm>
          <a:prstGeom prst="rect">
            <a:avLst/>
          </a:prstGeom>
          <a:solidFill>
            <a:srgbClr val="C49A2A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0" y="3977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6E"/>
                </a:solidFill>
              </a:rPr>
              <a:t>93検定の完全監査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2C5F2D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背景：里山の放棄が進んでいる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914400"/>
            <a:ext cx="1828800" cy="0"/>
          </a:xfrm>
          <a:prstGeom prst="line">
            <a:avLst/>
          </a:prstGeom>
          <a:noFill/>
          <a:ln w="25400">
            <a:solidFill>
              <a:srgbClr val="4A9E5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188720"/>
            <a:ext cx="768096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188720"/>
            <a:ext cx="64008" cy="9601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6" name="Shape 4"/>
          <p:cNvSpPr/>
          <p:nvPr/>
        </p:nvSpPr>
        <p:spPr>
          <a:xfrm>
            <a:off x="1005840" y="137160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45920" y="12801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</a:rPr>
              <a:t>種数モニタリングでは「変化なし」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645920" y="16459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</a:rPr>
              <a:t>従来の保全指標（種数・個体数）では里山の生態系変化が検出されない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2331720"/>
            <a:ext cx="768096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31520" y="2331720"/>
            <a:ext cx="64008" cy="960120"/>
          </a:xfrm>
          <a:prstGeom prst="rect">
            <a:avLst/>
          </a:prstGeom>
          <a:solidFill>
            <a:srgbClr val="2E6B8A"/>
          </a:solidFill>
          <a:ln/>
        </p:spPr>
      </p:sp>
      <p:sp>
        <p:nvSpPr>
          <p:cNvPr id="12" name="Shape 10"/>
          <p:cNvSpPr/>
          <p:nvPr/>
        </p:nvSpPr>
        <p:spPr>
          <a:xfrm>
            <a:off x="1005840" y="2514600"/>
            <a:ext cx="457200" cy="457200"/>
          </a:xfrm>
          <a:prstGeom prst="ellipse">
            <a:avLst/>
          </a:prstGeom>
          <a:solidFill>
            <a:srgbClr val="2E6B8A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645920" y="24231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6B8A"/>
                </a:solidFill>
              </a:rPr>
              <a:t>しかし先行研究は種レベル分析のみ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645920" y="27889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</a:rPr>
              <a:t>Katayama(2024), Morelli(2025), Yamaura(2025), Uchida(2025) — 全て種レベル。コミュニティの「質」の変化は未検証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3474720"/>
            <a:ext cx="768096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1520" y="3474720"/>
            <a:ext cx="64008" cy="960120"/>
          </a:xfrm>
          <a:prstGeom prst="rect">
            <a:avLst/>
          </a:prstGeom>
          <a:solidFill>
            <a:srgbClr val="4A9E53"/>
          </a:solidFill>
          <a:ln/>
        </p:spPr>
      </p:sp>
      <p:sp>
        <p:nvSpPr>
          <p:cNvPr id="18" name="Shape 16"/>
          <p:cNvSpPr/>
          <p:nvPr/>
        </p:nvSpPr>
        <p:spPr>
          <a:xfrm>
            <a:off x="1005840" y="3657600"/>
            <a:ext cx="457200" cy="457200"/>
          </a:xfrm>
          <a:prstGeom prst="ellipse">
            <a:avLst/>
          </a:prstGeom>
          <a:solidFill>
            <a:srgbClr val="4A9E53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645920" y="35661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9E53"/>
                </a:solidFill>
              </a:rPr>
              <a:t>本研究：機能的指標で何が見えるか？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645920" y="39319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</a:rPr>
              <a:t>CTI/CWM/Biotic Homogenization指標で、種数では見えない変化を検出する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0" y="489204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発見1：種数は変化しない（0/40テスト非有意）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914400"/>
            <a:ext cx="1828800" cy="0"/>
          </a:xfrm>
          <a:prstGeom prst="line">
            <a:avLst/>
          </a:prstGeom>
          <a:noFill/>
          <a:ln w="25400">
            <a:solidFill>
              <a:srgbClr val="2C5F2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188720"/>
            <a:ext cx="7680960" cy="91440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188720"/>
            <a:ext cx="64008" cy="9144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28016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</a:rPr>
              <a:t>5分類群（鳥類・チョウ・カエル・ホタル・植物）× 4環境ドライバー × 2指標 = </a:t>
            </a:r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</a:rPr>
              <a:t>40のKruskal-Wallis検定</a:t>
            </a:r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</a:rPr>
              <a:t>。BH多重検定補正後、全て非有意。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2377440"/>
            <a:ext cx="3200400" cy="2194560"/>
          </a:xfrm>
          <a:prstGeom prst="rect">
            <a:avLst/>
          </a:prstGeom>
          <a:solidFill>
            <a:srgbClr val="1B3A2D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56032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4A9E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/ 40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731520" y="34747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7BC62"/>
                </a:solidFill>
              </a:rPr>
              <a:t>BH補正後の有意な検定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38404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B6E"/>
                </a:solidFill>
              </a:rPr>
              <a:t>種数でも個体数でも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B6E"/>
                </a:solidFill>
              </a:rPr>
              <a:t>環境変化との関連なし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97680" y="2377440"/>
            <a:ext cx="411480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0" y="25146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</a:rPr>
              <a:t>これは何を意味するか？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0" y="292608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B2B"/>
                </a:solidFill>
              </a:rPr>
              <a:t>種数ベースの保全指標では、里山の生態系変化を全く検出できない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</a:rPr>
              <a:t>Dornelas et al. (2014, Science) が全球的に報告した「種数は変わらないが組成は変化する」パターンを、日本の里山で5分類群にわたり初めて体系的に実証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4A9E53"/>
                </a:solidFill>
              </a:rPr>
              <a:t>→ モニタリング政策の「盲点」を指摘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0" y="489204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発見2：外来植物が増え、在来植物が減っている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914400"/>
            <a:ext cx="1828800" cy="0"/>
          </a:xfrm>
          <a:prstGeom prst="line">
            <a:avLst/>
          </a:prstGeom>
          <a:noFill/>
          <a:ln w="25400">
            <a:solidFill>
              <a:srgbClr val="4A9E5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188720"/>
            <a:ext cx="3200400" cy="2286000"/>
          </a:xfrm>
          <a:prstGeom prst="rect">
            <a:avLst/>
          </a:prstGeom>
          <a:solidFill>
            <a:srgbClr val="1B3A2D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258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7BC62"/>
                </a:solidFill>
              </a:rPr>
              <a:t>Homogenization Index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5544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A9E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= 0.419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31520" y="2286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[0.143, 0.695]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606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BH p &lt; 0.001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3017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B6E"/>
                </a:solidFill>
              </a:rPr>
              <a:t>95%CIがゼロを含まない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B6E"/>
                </a:solidFill>
              </a:rPr>
              <a:t>→ 頑健な効果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297680" y="1188720"/>
            <a:ext cx="411480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0" y="13258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9E53"/>
                </a:solidFill>
              </a:rPr>
              <a:t>生物的均質化とは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0" y="1691640"/>
            <a:ext cx="3566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</a:rPr>
              <a:t>外来植物が年+0.27%ずつ増加（r=0.717）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</a:rPr>
              <a:t>65%のサイトで均質化が進行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</a:rPr>
              <a:t>在来-外来の相関 r=0.740 → 同じ環境劣化への応答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i="1" dirty="0">
                <a:solidFill>
                  <a:srgbClr val="6B7B6E"/>
                </a:solidFill>
              </a:rPr>
              <a:t>Uchida et al. (2025, Nature Sustainability) の知見と独立的に整合。ただし本研究は比率ベースの改良手法を使用。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3749040"/>
            <a:ext cx="768096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3749040"/>
            <a:ext cx="64008" cy="822960"/>
          </a:xfrm>
          <a:prstGeom prst="rect">
            <a:avLst/>
          </a:prstGeom>
          <a:solidFill>
            <a:srgbClr val="2E6B8A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384048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6B8A"/>
                </a:solidFill>
              </a:rPr>
              <a:t>鳥類でも: </a:t>
            </a:r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</a:rPr>
              <a:t>種の変化の67%が「入れ替わり」（turnover）。開放地鳥（モズ等）が減り、森林鳥（サンショウクイ等）が増加。種数は不変でも「顔ぶれ」は激変。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0" y="489204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方法論的教訓：CTI分析の交絡発見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914400"/>
            <a:ext cx="1828800" cy="0"/>
          </a:xfrm>
          <a:prstGeom prst="line">
            <a:avLst/>
          </a:prstGeom>
          <a:noFill/>
          <a:ln w="25400">
            <a:solidFill>
              <a:srgbClr val="C49A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188720"/>
            <a:ext cx="3657600" cy="137160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188720"/>
            <a:ext cx="3657600" cy="64008"/>
          </a:xfrm>
          <a:prstGeom prst="rect">
            <a:avLst/>
          </a:prstGeom>
          <a:solidFill>
            <a:srgbClr val="2C7A3E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3258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7A3E"/>
                </a:solidFill>
              </a:rPr>
              <a:t>初期結果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6916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</a:rPr>
              <a:t>CTI差 d = 0.497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</a:rPr>
              <a:t>p &lt; 0.001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</a:rPr>
              <a:t>放棄サイトの鳥類群集が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</a:rPr>
              <a:t>温暖適応方向にシフト？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657600" cy="1371600"/>
          </a:xfrm>
          <a:prstGeom prst="rect">
            <a:avLst/>
          </a:prstGeom>
          <a:solidFill>
            <a:srgbClr val="FFF0F0"/>
          </a:solidFill>
          <a:ln/>
        </p:spPr>
      </p:sp>
      <p:sp>
        <p:nvSpPr>
          <p:cNvPr id="9" name="Shape 7"/>
          <p:cNvSpPr/>
          <p:nvPr/>
        </p:nvSpPr>
        <p:spPr>
          <a:xfrm>
            <a:off x="4754880" y="1188720"/>
            <a:ext cx="3657600" cy="64008"/>
          </a:xfrm>
          <a:prstGeom prst="rect">
            <a:avLst/>
          </a:prstGeom>
          <a:solidFill>
            <a:srgbClr val="B83A3A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3258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3A3A"/>
                </a:solidFill>
              </a:rPr>
              <a:t>PSM補正後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0" y="16916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</a:rPr>
              <a:t>CTI差 d = 0.176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</a:rPr>
              <a:t>p = 0.407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</a:rPr>
              <a:t>放棄サイトが温暖地域に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</a:rPr>
              <a:t>偏在していたことが主因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2834640"/>
            <a:ext cx="7680960" cy="914400"/>
          </a:xfrm>
          <a:prstGeom prst="rect">
            <a:avLst/>
          </a:prstGeom>
          <a:solidFill>
            <a:srgbClr val="1B3A2D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292608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9E53"/>
                </a:solidFill>
              </a:rPr>
              <a:t>教訓: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傾向スコアマッチング（PSM）で交絡を発見し、正直に撤回。この透明なプロセス自体が方法論的貢献。さらに森林化はCTIを下げる（r=-0.729）ことも発見 — 先行研究の仮定に疑問を投じる。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31520" y="3931920"/>
            <a:ext cx="768096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3931920"/>
            <a:ext cx="64008" cy="640080"/>
          </a:xfrm>
          <a:prstGeom prst="rect">
            <a:avLst/>
          </a:prstGeom>
          <a:solidFill>
            <a:srgbClr val="C49A2A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393192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9A2A"/>
                </a:solidFill>
              </a:rPr>
              <a:t>93検定の完全リストをSupplementaryに掲載 — 有意/非有意を問わず全結果を開示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0" y="489204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補足：多分類群の同期的転換点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914400"/>
            <a:ext cx="1828800" cy="0"/>
          </a:xfrm>
          <a:prstGeom prst="line">
            <a:avLst/>
          </a:prstGeom>
          <a:noFill/>
          <a:ln w="25400">
            <a:solidFill>
              <a:srgbClr val="2E6B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645920"/>
            <a:ext cx="7680960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5" name="Shape 3"/>
          <p:cNvSpPr/>
          <p:nvPr/>
        </p:nvSpPr>
        <p:spPr>
          <a:xfrm>
            <a:off x="1737360" y="1463040"/>
            <a:ext cx="365760" cy="365760"/>
          </a:xfrm>
          <a:prstGeom prst="ellipse">
            <a:avLst/>
          </a:prstGeom>
          <a:solidFill>
            <a:srgbClr val="B83A3A"/>
          </a:solidFill>
          <a:ln/>
        </p:spPr>
      </p:sp>
      <p:sp>
        <p:nvSpPr>
          <p:cNvPr id="6" name="Text 4"/>
          <p:cNvSpPr/>
          <p:nvPr/>
        </p:nvSpPr>
        <p:spPr>
          <a:xfrm>
            <a:off x="1737360" y="1463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1920240"/>
            <a:ext cx="24688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1920240"/>
            <a:ext cx="2468880" cy="64008"/>
          </a:xfrm>
          <a:prstGeom prst="rect">
            <a:avLst/>
          </a:prstGeom>
          <a:solidFill>
            <a:srgbClr val="B83A3A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0574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3A3A"/>
                </a:solidFill>
              </a:rPr>
              <a:t>即時応答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233172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6E"/>
                </a:solidFill>
              </a:rPr>
              <a:t>2〜4年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68680" y="25603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</a:rPr>
              <a:t>カエル卵塊激減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</a:rPr>
              <a:t>(F=114.6)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</a:rPr>
              <a:t>チョウ種数減少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480560" y="1463040"/>
            <a:ext cx="365760" cy="365760"/>
          </a:xfrm>
          <a:prstGeom prst="ellipse">
            <a:avLst/>
          </a:prstGeom>
          <a:solidFill>
            <a:srgbClr val="C49A2A"/>
          </a:solidFill>
          <a:ln/>
        </p:spPr>
      </p:sp>
      <p:sp>
        <p:nvSpPr>
          <p:cNvPr id="13" name="Text 11"/>
          <p:cNvSpPr/>
          <p:nvPr/>
        </p:nvSpPr>
        <p:spPr>
          <a:xfrm>
            <a:off x="4480560" y="1463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474720" y="1920240"/>
            <a:ext cx="24688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74720" y="1920240"/>
            <a:ext cx="2468880" cy="64008"/>
          </a:xfrm>
          <a:prstGeom prst="rect">
            <a:avLst/>
          </a:prstGeom>
          <a:solidFill>
            <a:srgbClr val="C49A2A"/>
          </a:solidFill>
          <a:ln/>
        </p:spPr>
      </p:sp>
      <p:sp>
        <p:nvSpPr>
          <p:cNvPr id="16" name="Text 14"/>
          <p:cNvSpPr/>
          <p:nvPr/>
        </p:nvSpPr>
        <p:spPr>
          <a:xfrm>
            <a:off x="3611880" y="20574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9A2A"/>
                </a:solidFill>
              </a:rPr>
              <a:t>中期応答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11880" y="233172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6E"/>
                </a:solidFill>
              </a:rPr>
              <a:t>5〜8年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11880" y="25603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</a:rPr>
              <a:t>生息環境の変化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</a:rPr>
              <a:t>外来植物比率上昇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223760" y="1463040"/>
            <a:ext cx="365760" cy="365760"/>
          </a:xfrm>
          <a:prstGeom prst="ellipse">
            <a:avLst/>
          </a:prstGeom>
          <a:solidFill>
            <a:srgbClr val="2C7A3E"/>
          </a:solidFill>
          <a:ln/>
        </p:spPr>
      </p:sp>
      <p:sp>
        <p:nvSpPr>
          <p:cNvPr id="20" name="Text 18"/>
          <p:cNvSpPr/>
          <p:nvPr/>
        </p:nvSpPr>
        <p:spPr>
          <a:xfrm>
            <a:off x="7223760" y="1463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217920" y="1920240"/>
            <a:ext cx="24688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17920" y="1920240"/>
            <a:ext cx="2468880" cy="64008"/>
          </a:xfrm>
          <a:prstGeom prst="rect">
            <a:avLst/>
          </a:prstGeom>
          <a:solidFill>
            <a:srgbClr val="2C7A3E"/>
          </a:solidFill>
          <a:ln/>
        </p:spPr>
      </p:sp>
      <p:sp>
        <p:nvSpPr>
          <p:cNvPr id="23" name="Text 21"/>
          <p:cNvSpPr/>
          <p:nvPr/>
        </p:nvSpPr>
        <p:spPr>
          <a:xfrm>
            <a:off x="6355080" y="20574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7A3E"/>
                </a:solidFill>
              </a:rPr>
              <a:t>遅延応答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355080" y="233172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6E"/>
                </a:solidFill>
              </a:rPr>
              <a:t>10〜13年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355080" y="25603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</a:rPr>
              <a:t>ホタル増加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</a:rPr>
              <a:t>鳥類個体数回復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31520" y="3840480"/>
            <a:ext cx="7680960" cy="731520"/>
          </a:xfrm>
          <a:prstGeom prst="rect">
            <a:avLst/>
          </a:prstGeom>
          <a:solidFill>
            <a:srgbClr val="1B3A2D"/>
          </a:solidFill>
          <a:ln/>
        </p:spPr>
      </p:sp>
      <p:sp>
        <p:nvSpPr>
          <p:cNvPr id="27" name="Text 25"/>
          <p:cNvSpPr/>
          <p:nvPr/>
        </p:nvSpPr>
        <p:spPr>
          <a:xfrm>
            <a:off x="1005840" y="393192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880F"/>
                </a:solidFill>
              </a:rPr>
              <a:t>注意: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非放棄サイトにもbreakpoint検出（F=17.9）→ PDO位相シフト（2014年）など気候要因が主因の可能性。放棄特異的効果ではなく、気候×土地利用の複合効果として解釈。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9" name="Text 27"/>
          <p:cNvSpPr/>
          <p:nvPr/>
        </p:nvSpPr>
        <p:spPr>
          <a:xfrm>
            <a:off x="8229600" y="489204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政策への提言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914400"/>
            <a:ext cx="1828800" cy="0"/>
          </a:xfrm>
          <a:prstGeom prst="line">
            <a:avLst/>
          </a:prstGeom>
          <a:noFill/>
          <a:ln w="25400">
            <a:solidFill>
              <a:srgbClr val="4A9E5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188720"/>
            <a:ext cx="768096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188720"/>
            <a:ext cx="64008" cy="9601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6" name="Shape 4"/>
          <p:cNvSpPr/>
          <p:nvPr/>
        </p:nvSpPr>
        <p:spPr>
          <a:xfrm>
            <a:off x="1005840" y="137160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45920" y="12801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</a:rPr>
              <a:t>機能的指標のモニタリング導入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645920" y="16459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</a:rPr>
              <a:t>種数だけでなく、外来種比率・群集組成の変化を定期的に追跡する仕組みが必要。NBSAP/GBFのモニタリング枠組みに機能的EBVを導入すべき。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2331720"/>
            <a:ext cx="768096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31520" y="2331720"/>
            <a:ext cx="64008" cy="960120"/>
          </a:xfrm>
          <a:prstGeom prst="rect">
            <a:avLst/>
          </a:prstGeom>
          <a:solidFill>
            <a:srgbClr val="4A9E53"/>
          </a:solidFill>
          <a:ln/>
        </p:spPr>
      </p:sp>
      <p:sp>
        <p:nvSpPr>
          <p:cNvPr id="12" name="Shape 10"/>
          <p:cNvSpPr/>
          <p:nvPr/>
        </p:nvSpPr>
        <p:spPr>
          <a:xfrm>
            <a:off x="1005840" y="2514600"/>
            <a:ext cx="457200" cy="457200"/>
          </a:xfrm>
          <a:prstGeom prst="ellipse">
            <a:avLst/>
          </a:prstGeom>
          <a:solidFill>
            <a:srgbClr val="4A9E53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645920" y="24231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9E53"/>
                </a:solidFill>
              </a:rPr>
              <a:t>「変化なし」の再検証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645920" y="27889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</a:rPr>
              <a:t>種数ベースで「問題なし」と評価されている保全サイトを、機能的指標で再評価する。見えない劣化が進行している可能性。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3474720"/>
            <a:ext cx="768096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1520" y="3474720"/>
            <a:ext cx="64008" cy="960120"/>
          </a:xfrm>
          <a:prstGeom prst="rect">
            <a:avLst/>
          </a:prstGeom>
          <a:solidFill>
            <a:srgbClr val="2E6B8A"/>
          </a:solidFill>
          <a:ln/>
        </p:spPr>
      </p:sp>
      <p:sp>
        <p:nvSpPr>
          <p:cNvPr id="18" name="Shape 16"/>
          <p:cNvSpPr/>
          <p:nvPr/>
        </p:nvSpPr>
        <p:spPr>
          <a:xfrm>
            <a:off x="1005840" y="3657600"/>
            <a:ext cx="457200" cy="457200"/>
          </a:xfrm>
          <a:prstGeom prst="ellipse">
            <a:avLst/>
          </a:prstGeom>
          <a:solidFill>
            <a:srgbClr val="2E6B8A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645920" y="35661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6B8A"/>
                </a:solidFill>
              </a:rPr>
              <a:t>交絡制御の標準化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645920" y="39319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</a:rPr>
              <a:t>CTI等の機能的指標を使う際は、ベースライン気温等の交絡変数をPSM等で制御することを標準プロトコルに。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0" y="489204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科学的誠実さ：何がうまくいかなかったか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914400"/>
            <a:ext cx="1828800" cy="0"/>
          </a:xfrm>
          <a:prstGeom prst="line">
            <a:avLst/>
          </a:prstGeom>
          <a:noFill/>
          <a:ln w="25400">
            <a:solidFill>
              <a:srgbClr val="B83A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097280"/>
            <a:ext cx="768096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097280"/>
            <a:ext cx="64008" cy="731520"/>
          </a:xfrm>
          <a:prstGeom prst="rect">
            <a:avLst/>
          </a:prstGeom>
          <a:solidFill>
            <a:srgbClr val="B83A3A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143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3A3A"/>
                </a:solidFill>
              </a:rPr>
              <a:t>CTI断面差（d=0.497）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1463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</a:rPr>
              <a:t>PSMで交絡消失 → d=0.176 ns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0" y="11887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B6E"/>
                </a:solidFill>
              </a:rPr>
              <a:t>放棄サイトの温暖地域偏在が原因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011680"/>
            <a:ext cx="768096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011680"/>
            <a:ext cx="64008" cy="731520"/>
          </a:xfrm>
          <a:prstGeom prst="rect">
            <a:avLst/>
          </a:prstGeom>
          <a:solidFill>
            <a:srgbClr val="B83A3A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057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3A3A"/>
                </a:solidFill>
              </a:rPr>
              <a:t>Breakpoint放棄特異性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05840" y="2377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</a:rPr>
              <a:t>非放棄にもBP検出 (F=17.9)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0" y="21031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B6E"/>
                </a:solidFill>
              </a:rPr>
              <a:t>PDO位相シフトが全サイトに影響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2926080"/>
            <a:ext cx="768096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2926080"/>
            <a:ext cx="64008" cy="731520"/>
          </a:xfrm>
          <a:prstGeom prst="rect">
            <a:avLst/>
          </a:prstGeom>
          <a:solidFill>
            <a:srgbClr val="B83A3A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2971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3A3A"/>
                </a:solidFill>
              </a:rPr>
              <a:t>低温群thermophilization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05840" y="3291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</a:rPr>
              <a:t>n=3, CI[-0.03,2.70]含ゼロ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0" y="30175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B6E"/>
                </a:solidFill>
              </a:rPr>
              <a:t>サブグループのサンプルサイズ不足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3840480"/>
            <a:ext cx="768096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1520" y="3840480"/>
            <a:ext cx="64008" cy="731520"/>
          </a:xfrm>
          <a:prstGeom prst="rect">
            <a:avLst/>
          </a:prstGeom>
          <a:solidFill>
            <a:srgbClr val="B83A3A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3886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3A3A"/>
                </a:solidFill>
              </a:rPr>
              <a:t>GBIFデータバグ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05840" y="4206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</a:rPr>
              <a:t>非鱗翅目91%混入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0" y="39319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B6E"/>
                </a:solidFill>
              </a:rPr>
              <a:t>分類群確認のチェックリスト化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1520" y="4206240"/>
            <a:ext cx="7680960" cy="457200"/>
          </a:xfrm>
          <a:prstGeom prst="rect">
            <a:avLst/>
          </a:prstGeom>
          <a:solidFill>
            <a:srgbClr val="1B3A2D"/>
          </a:solidFill>
          <a:ln/>
        </p:spPr>
      </p:sp>
      <p:sp>
        <p:nvSpPr>
          <p:cNvPr id="25" name="Text 23"/>
          <p:cNvSpPr/>
          <p:nvPr/>
        </p:nvSpPr>
        <p:spPr>
          <a:xfrm>
            <a:off x="1005840" y="420624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9E53"/>
                </a:solidFill>
              </a:rPr>
              <a:t>ネガティブ結果4件 + 全93検定の開示 → レビュアーの信頼獲得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0" y="489204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先行研究との差別化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914400"/>
            <a:ext cx="1828800" cy="0"/>
          </a:xfrm>
          <a:prstGeom prst="line">
            <a:avLst/>
          </a:prstGeom>
          <a:noFill/>
          <a:ln w="25400">
            <a:solidFill>
              <a:srgbClr val="4A9E53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097280"/>
                <a:gridCol w="1097280"/>
                <a:gridCol w="1097280"/>
                <a:gridCol w="1097280"/>
                <a:gridCol w="10972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分析要素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Katayama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2024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Morelli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Yamaura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Uchida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本研究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E5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</a:rPr>
                        <a:t>CTI/CWM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B6E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B6E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B6E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B6E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C7A3E"/>
                          </a:solidFill>
                        </a:rPr>
                        <a:t>YES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</a:rPr>
                        <a:t>PSM交絡制御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B6E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B6E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B6E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B6E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C7A3E"/>
                          </a:solidFill>
                        </a:rPr>
                        <a:t>YES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</a:rPr>
                        <a:t>外来/在来比率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B6E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B6E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</a:rPr>
                        <a:t>一部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</a:rPr>
                        <a:t>種数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C7A3E"/>
                          </a:solidFill>
                        </a:rPr>
                        <a:t>YES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</a:rPr>
                        <a:t>多分類群(5群)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</a:rPr>
                        <a:t>鳥のみ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</a:rPr>
                        <a:t>鳥のみ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</a:rPr>
                        <a:t>鳥のみ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C7A3E"/>
                          </a:solidFill>
                        </a:rPr>
                        <a:t>YES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C7A3E"/>
                          </a:solidFill>
                        </a:rPr>
                        <a:t>YES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</a:rPr>
                        <a:t>GIS定量放棄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</a:rPr>
                        <a:t>質的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B6E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B6E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B6E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C7A3E"/>
                          </a:solidFill>
                        </a:rPr>
                        <a:t>YES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31520" y="3657600"/>
            <a:ext cx="7680960" cy="548640"/>
          </a:xfrm>
          <a:prstGeom prst="rect">
            <a:avLst/>
          </a:prstGeom>
          <a:solidFill>
            <a:srgbClr val="1B3A2D"/>
          </a:solidFill>
          <a:ln/>
        </p:spPr>
      </p:sp>
      <p:sp>
        <p:nvSpPr>
          <p:cNvPr id="6" name="Text 3"/>
          <p:cNvSpPr/>
          <p:nvPr/>
        </p:nvSpPr>
        <p:spPr>
          <a:xfrm>
            <a:off x="1005840" y="365760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9E53"/>
                </a:solidFill>
              </a:rPr>
              <a:t>4本の先行研究いずれもCTI/CWMを未使用。PSM交絡制御も本研究が初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0" y="489204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データの品質保証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914400"/>
            <a:ext cx="1828800" cy="0"/>
          </a:xfrm>
          <a:prstGeom prst="line">
            <a:avLst/>
          </a:prstGeom>
          <a:noFill/>
          <a:ln w="25400">
            <a:solidFill>
              <a:srgbClr val="4A9E5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196596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1965960" cy="64008"/>
          </a:xfrm>
          <a:prstGeom prst="rect">
            <a:avLst/>
          </a:prstGeom>
          <a:solidFill>
            <a:srgbClr val="2C7A3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716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7A3E"/>
                </a:solidFill>
              </a:rPr>
              <a:t>97%一致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7A3E"/>
                </a:solidFill>
              </a:rPr>
              <a:t>環境変数の独立検証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37744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</a:rPr>
              <a:t>国土数値情報との照合で5kmスケール誤差3%を確認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06040" y="1188720"/>
            <a:ext cx="196596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606040" y="1188720"/>
            <a:ext cx="1965960" cy="6400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1" name="Text 9"/>
          <p:cNvSpPr/>
          <p:nvPr/>
        </p:nvSpPr>
        <p:spPr>
          <a:xfrm>
            <a:off x="2606040" y="13716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5F2D"/>
                </a:solidFill>
              </a:rPr>
              <a:t>93検定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697480" y="19202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</a:rPr>
              <a:t>93検定の完全開示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97480" y="237744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</a:rPr>
              <a:t>有意/非有意を問わず全結果をSupplementaryに掲載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1188720"/>
            <a:ext cx="196596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188720"/>
            <a:ext cx="1965960" cy="64008"/>
          </a:xfrm>
          <a:prstGeom prst="rect">
            <a:avLst/>
          </a:prstGeom>
          <a:solidFill>
            <a:srgbClr val="2E6B8A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13716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6B8A"/>
                </a:solidFill>
              </a:rPr>
              <a:t>2レベル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846320" y="19202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6B8A"/>
                </a:solidFill>
              </a:rPr>
              <a:t>BH多重検定補正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46320" y="237744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</a:rPr>
              <a:t>40検定family + 93検定globalの2レベルで補正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903720" y="1188720"/>
            <a:ext cx="196596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903720" y="1188720"/>
            <a:ext cx="1965960" cy="64008"/>
          </a:xfrm>
          <a:prstGeom prst="rect">
            <a:avLst/>
          </a:prstGeom>
          <a:solidFill>
            <a:srgbClr val="C49A2A"/>
          </a:solidFill>
          <a:ln/>
        </p:spPr>
      </p:sp>
      <p:sp>
        <p:nvSpPr>
          <p:cNvPr id="21" name="Text 19"/>
          <p:cNvSpPr/>
          <p:nvPr/>
        </p:nvSpPr>
        <p:spPr>
          <a:xfrm>
            <a:off x="6903720" y="13716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49A2A"/>
                </a:solidFill>
              </a:rPr>
              <a:t>3チェック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995160" y="19202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9A2A"/>
                </a:solidFill>
              </a:rPr>
              <a:t>Pre-Assessment Protocol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995160" y="237744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</a:rPr>
              <a:t>CI・交絡・外れ値の3点を分析前に確認する手順を確立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0" y="489204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3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9E5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まとめ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914400"/>
            <a:ext cx="2286000" cy="0"/>
          </a:xfrm>
          <a:prstGeom prst="line">
            <a:avLst/>
          </a:prstGeom>
          <a:noFill/>
          <a:ln w="25400">
            <a:solidFill>
              <a:srgbClr val="4A9E5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188720"/>
            <a:ext cx="7680960" cy="1463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280160"/>
            <a:ext cx="7132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7BC62"/>
                </a:solidFill>
              </a:rPr>
              <a:t>核心メッセージ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1. 種数・個体数は環境変化に応答しない（0/40非有意）</a:t>
            </a:r>
            <a:endParaRPr lang="en-US" sz="11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2. しかし植物群集の均質化は有意に進行（d=0.419, p&lt;0.001）</a:t>
            </a:r>
            <a:endParaRPr lang="en-US" sz="1100" dirty="0"/>
          </a:p>
          <a:p>
            <a:pPr indent="0" marL="0">
              <a:buNone/>
            </a:pPr>
            <a:r>
              <a:rPr lang="en-US" sz="1400" b="1" dirty="0">
                <a:solidFill>
                  <a:srgbClr val="4A9E53"/>
                </a:solidFill>
              </a:rPr>
              <a:t>3. 種数ベースのモニタリングでは「見えない変化」が進行中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301752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7BC62"/>
                </a:solidFill>
              </a:rPr>
              <a:t>投稿先: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Journal of Applied Ecology (IF~6)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97BC62"/>
                </a:solidFill>
              </a:rPr>
              <a:t>併行論文: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STI定義感度分析（39%符号反転）→ Methods in Ecology and Evolution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0" y="489204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3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9E5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731520" y="2560320"/>
            <a:ext cx="2743200" cy="0"/>
          </a:xfrm>
          <a:prstGeom prst="line">
            <a:avLst/>
          </a:prstGeom>
          <a:noFill/>
          <a:ln w="25400">
            <a:solidFill>
              <a:srgbClr val="4A9E5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9260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7BC62"/>
                </a:solidFill>
              </a:rPr>
              <a:t>BioEco Agent Lab</a:t>
            </a: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rgbClr val="6B7B6E"/>
                </a:solidFill>
              </a:rPr>
              <a:t>データ: Ueta et al. (2025), Katayama et al. (2024), EltonTraits 1.0</a:t>
            </a: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rgbClr val="6B7B6E"/>
                </a:solidFill>
              </a:rPr>
              <a:t>93検定の完全リスト: Supplementary Table S2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0" y="489204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12 / 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Species richness masks biotic homogenization in depopulating Japanese satoyama</dc:title>
  <dc:subject>PptxGenJS Presentation</dc:subject>
  <dc:creator>Hana Presenter — BioEco Agent Lab</dc:creator>
  <cp:lastModifiedBy>Hana Presenter — BioEco Agent Lab</cp:lastModifiedBy>
  <cp:revision>1</cp:revision>
  <dcterms:created xsi:type="dcterms:W3CDTF">2026-03-14T20:23:18Z</dcterms:created>
  <dcterms:modified xsi:type="dcterms:W3CDTF">2026-03-14T20:23:18Z</dcterms:modified>
</cp:coreProperties>
</file>